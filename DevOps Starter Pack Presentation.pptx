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6858000" cx="12192000"/>
  <p:notesSz cx="6858000" cy="9144000"/>
  <p:embeddedFontLst>
    <p:embeddedFont>
      <p:font typeface="Urbanist Medium"/>
      <p:regular r:id="rId32"/>
      <p:bold r:id="rId33"/>
      <p:italic r:id="rId34"/>
      <p:boldItalic r:id="rId35"/>
    </p:embeddedFont>
    <p:embeddedFont>
      <p:font typeface="Urbanist"/>
      <p:regular r:id="rId36"/>
      <p:bold r:id="rId37"/>
      <p:italic r:id="rId38"/>
      <p:boldItalic r:id="rId39"/>
    </p:embeddedFont>
    <p:embeddedFont>
      <p:font typeface="JetBrains Mono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JetBrainsMono-regular.fntdata"/><Relationship Id="rId20" Type="http://schemas.openxmlformats.org/officeDocument/2006/relationships/slide" Target="slides/slide15.xml"/><Relationship Id="rId42" Type="http://schemas.openxmlformats.org/officeDocument/2006/relationships/font" Target="fonts/JetBrainsMono-italic.fntdata"/><Relationship Id="rId41" Type="http://schemas.openxmlformats.org/officeDocument/2006/relationships/font" Target="fonts/JetBrainsMono-bold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schemas.openxmlformats.org/officeDocument/2006/relationships/font" Target="fonts/JetBrainsMono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UrbanistMedium-bold.fntdata"/><Relationship Id="rId10" Type="http://schemas.openxmlformats.org/officeDocument/2006/relationships/slide" Target="slides/slide5.xml"/><Relationship Id="rId32" Type="http://schemas.openxmlformats.org/officeDocument/2006/relationships/font" Target="fonts/UrbanistMedium-regular.fntdata"/><Relationship Id="rId13" Type="http://schemas.openxmlformats.org/officeDocument/2006/relationships/slide" Target="slides/slide8.xml"/><Relationship Id="rId35" Type="http://schemas.openxmlformats.org/officeDocument/2006/relationships/font" Target="fonts/UrbanistMedium-boldItalic.fntdata"/><Relationship Id="rId12" Type="http://schemas.openxmlformats.org/officeDocument/2006/relationships/slide" Target="slides/slide7.xml"/><Relationship Id="rId34" Type="http://schemas.openxmlformats.org/officeDocument/2006/relationships/font" Target="fonts/UrbanistMedium-italic.fntdata"/><Relationship Id="rId15" Type="http://schemas.openxmlformats.org/officeDocument/2006/relationships/slide" Target="slides/slide10.xml"/><Relationship Id="rId37" Type="http://schemas.openxmlformats.org/officeDocument/2006/relationships/font" Target="fonts/Urbanist-bold.fntdata"/><Relationship Id="rId14" Type="http://schemas.openxmlformats.org/officeDocument/2006/relationships/slide" Target="slides/slide9.xml"/><Relationship Id="rId36" Type="http://schemas.openxmlformats.org/officeDocument/2006/relationships/font" Target="fonts/Urbanist-regular.fntdata"/><Relationship Id="rId17" Type="http://schemas.openxmlformats.org/officeDocument/2006/relationships/slide" Target="slides/slide12.xml"/><Relationship Id="rId39" Type="http://schemas.openxmlformats.org/officeDocument/2006/relationships/font" Target="fonts/Urbanist-boldItalic.fntdata"/><Relationship Id="rId16" Type="http://schemas.openxmlformats.org/officeDocument/2006/relationships/slide" Target="slides/slide11.xml"/><Relationship Id="rId38" Type="http://schemas.openxmlformats.org/officeDocument/2006/relationships/font" Target="fonts/Urbanist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6.png"/><Relationship Id="rId6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29.png"/><Relationship Id="rId6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30.png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29.png"/><Relationship Id="rId6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0.png"/><Relationship Id="rId6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29.png"/><Relationship Id="rId6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5" Type="http://schemas.openxmlformats.org/officeDocument/2006/relationships/image" Target="../media/image30.png"/><Relationship Id="rId6" Type="http://schemas.openxmlformats.org/officeDocument/2006/relationships/image" Target="../media/image3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30.png"/><Relationship Id="rId6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29.png"/><Relationship Id="rId6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24.png"/><Relationship Id="rId5" Type="http://schemas.openxmlformats.org/officeDocument/2006/relationships/image" Target="../media/image38.png"/><Relationship Id="rId6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29.png"/><Relationship Id="rId6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25.png"/><Relationship Id="rId5" Type="http://schemas.openxmlformats.org/officeDocument/2006/relationships/image" Target="../media/image38.png"/><Relationship Id="rId6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29.png"/><Relationship Id="rId6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Relationship Id="rId4" Type="http://schemas.openxmlformats.org/officeDocument/2006/relationships/image" Target="../media/image3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4.png"/><Relationship Id="rId4" Type="http://schemas.openxmlformats.org/officeDocument/2006/relationships/image" Target="../media/image14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png"/><Relationship Id="rId4" Type="http://schemas.openxmlformats.org/officeDocument/2006/relationships/image" Target="../media/image30.png"/><Relationship Id="rId5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29.png"/><Relationship Id="rId6" Type="http://schemas.openxmlformats.org/officeDocument/2006/relationships/image" Target="../media/image3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30.png"/><Relationship Id="rId6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29.png"/><Relationship Id="rId6" Type="http://schemas.openxmlformats.org/officeDocument/2006/relationships/image" Target="../media/image3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30.png"/><Relationship Id="rId6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29.png"/><Relationship Id="rId6" Type="http://schemas.openxmlformats.org/officeDocument/2006/relationships/image" Target="../media/image3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3.png"/><Relationship Id="rId4" Type="http://schemas.openxmlformats.org/officeDocument/2006/relationships/image" Target="../media/image13.png"/><Relationship Id="rId5" Type="http://schemas.openxmlformats.org/officeDocument/2006/relationships/image" Target="../media/image30.png"/><Relationship Id="rId6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Relationship Id="rId4" Type="http://schemas.openxmlformats.org/officeDocument/2006/relationships/image" Target="../media/image36.png"/><Relationship Id="rId5" Type="http://schemas.openxmlformats.org/officeDocument/2006/relationships/image" Target="../media/image3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Relationship Id="rId4" Type="http://schemas.openxmlformats.org/officeDocument/2006/relationships/image" Target="../media/image36.png"/><Relationship Id="rId5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A13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860595" y="2005012"/>
            <a:ext cx="6470808" cy="132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00D2FF"/>
                </a:solidFill>
                <a:latin typeface="Urbanist"/>
                <a:ea typeface="Urbanist"/>
                <a:cs typeface="Urbanist"/>
                <a:sym typeface="Urbanist"/>
              </a:rPr>
              <a:t>DEVOPS STARTER PACK: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350" u="none" cap="none" strike="noStrike">
                <a:solidFill>
                  <a:srgbClr val="00D2FF"/>
                </a:solidFill>
                <a:latin typeface="Urbanist"/>
                <a:ea typeface="Urbanist"/>
                <a:cs typeface="Urbanist"/>
                <a:sym typeface="Urbanist"/>
              </a:rPr>
              <a:t> 11 EASY MINI PROJECTS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690937" y="3473648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 Simple, Hands-On Guide to Cloud and Automation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686413" y="4666363"/>
            <a:ext cx="819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Omar Tokal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A13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D2FF"/>
                </a:solidFill>
                <a:latin typeface="Urbanist"/>
                <a:ea typeface="Urbanist"/>
                <a:cs typeface="Urbanist"/>
                <a:sym typeface="Urbanist"/>
              </a:rPr>
              <a:t>THE CRUCIAL LAB RULES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914400" y="3130004"/>
            <a:ext cx="10696575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Rule 1: No Copy-Paste.</a:t>
            </a: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Do not use AI to write code for you. Type every single letter yourself to learn the syntax!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14400" y="3554759"/>
            <a:ext cx="10696575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Rule 2: Watch Your Spaces.</a:t>
            </a: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YAML and Terraform are very sensitive to spacing. Spacing builds muscle memory.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14400" y="3979515"/>
            <a:ext cx="10696575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Rule 3: Read Error Messages.</a:t>
            </a: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When code fails, read the terminal carefully. Most errors tell you exactly how to fix them!</a:t>
            </a:r>
            <a:endParaRPr/>
          </a:p>
        </p:txBody>
      </p:sp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163341"/>
            <a:ext cx="2000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588097"/>
            <a:ext cx="1619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012852"/>
            <a:ext cx="18097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A13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62522"/>
            <a:ext cx="5324475" cy="24092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100262"/>
            <a:ext cx="53244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D2FF"/>
                </a:solidFill>
                <a:latin typeface="Urbanist"/>
                <a:ea typeface="Urbanist"/>
                <a:cs typeface="Urbanist"/>
                <a:sym typeface="Urbanist"/>
              </a:rPr>
              <a:t>PROJECT 1: SYSTEM SETUP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19150" y="2800647"/>
            <a:ext cx="509063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Story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819150" y="3191172"/>
            <a:ext cx="4848225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You have a brand new server with nothing on it. Before you install apps, you must update the system and install basic tools.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19150" y="3785294"/>
            <a:ext cx="484822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Your Goal: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819150" y="4139505"/>
            <a:ext cx="4848225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Create a simple Ansible script to update the system and install handy tools like curl and git.</a:t>
            </a:r>
            <a:endParaRPr/>
          </a:p>
        </p:txBody>
      </p:sp>
      <p:pic>
        <p:nvPicPr>
          <p:cNvPr id="112" name="Google Shape;112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00738" y="2057388"/>
            <a:ext cx="609600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A13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878633"/>
            <a:ext cx="5324475" cy="17770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2888158"/>
            <a:ext cx="5305425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D2FF"/>
                </a:solidFill>
                <a:latin typeface="Urbanist"/>
                <a:ea typeface="Urbanist"/>
                <a:cs typeface="Urbanist"/>
                <a:sym typeface="Urbanist"/>
              </a:rPr>
              <a:t>P1: TASK IMPLEMENTATION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581025" y="3027164"/>
            <a:ext cx="559069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Easy Steps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581025" y="3417689"/>
            <a:ext cx="5324475" cy="48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Create a file called main.yml. Write two simple tasks: one to update the cache, and one to install packages.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6467475" y="3354883"/>
            <a:ext cx="4962525" cy="1119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F5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--- - name: Update system cache apt: update_cache: yes when: ansible_os_family == "Debian" - name: Install utility tools apt: name: [curl, git, htop, tree] state: present when: ansible_os_family == "Debian"</a:t>
            </a:r>
            <a:endParaRPr/>
          </a:p>
        </p:txBody>
      </p:sp>
      <p:pic>
        <p:nvPicPr>
          <p:cNvPr descr="image.png" id="124" name="Google Shape;12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202310"/>
            <a:ext cx="1047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/>
          <p:nvPr/>
        </p:nvSpPr>
        <p:spPr>
          <a:xfrm>
            <a:off x="6438900" y="2983408"/>
            <a:ext cx="95250" cy="9525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6591300" y="2983408"/>
            <a:ext cx="95250" cy="95250"/>
          </a:xfrm>
          <a:prstGeom prst="roundRect">
            <a:avLst>
              <a:gd fmla="val 50000" name="adj"/>
            </a:avLst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6743700" y="2983408"/>
            <a:ext cx="95250" cy="95250"/>
          </a:xfrm>
          <a:prstGeom prst="roundRect">
            <a:avLst>
              <a:gd fmla="val 50000" name="adj"/>
            </a:avLst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A13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62522"/>
            <a:ext cx="5324475" cy="24092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100262"/>
            <a:ext cx="53244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D2FF"/>
                </a:solidFill>
                <a:latin typeface="Urbanist"/>
                <a:ea typeface="Urbanist"/>
                <a:cs typeface="Urbanist"/>
                <a:sym typeface="Urbanist"/>
              </a:rPr>
              <a:t>PROJECT 2: RUN A WEBSITE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819150" y="2800647"/>
            <a:ext cx="509063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Story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819150" y="3191172"/>
            <a:ext cx="4848225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Your team needs a basic placeholder website up and running. Instead of doing it manually, write a tool to do it instantly.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819150" y="3785294"/>
            <a:ext cx="484822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Your Goal: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819150" y="4139505"/>
            <a:ext cx="4848225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Write an Ansible script to install the Nginx web server and copy a welcome page online.</a:t>
            </a:r>
            <a:endParaRPr/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03425" y="2203850"/>
            <a:ext cx="5090625" cy="31265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A13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878633"/>
            <a:ext cx="5324475" cy="17770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2888158"/>
            <a:ext cx="5305425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D2FF"/>
                </a:solidFill>
                <a:latin typeface="Urbanist"/>
                <a:ea typeface="Urbanist"/>
                <a:cs typeface="Urbanist"/>
                <a:sym typeface="Urbanist"/>
              </a:rPr>
              <a:t>P2: WEB SERVER TASKS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581025" y="2764333"/>
            <a:ext cx="559069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Easy Steps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581025" y="3154858"/>
            <a:ext cx="5324475" cy="249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1. Make a simple web page named index.html.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581025" y="3518594"/>
            <a:ext cx="5324475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2. Create a script to install Nginx, copy the page into place, and make sure the server starts.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6467475" y="3354883"/>
            <a:ext cx="4962525" cy="1119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F5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--- - name: Install Nginx server apt: name: nginx state: present - name: Copy welcome page copy: src: index.html dest: /var/www/html/index.html - name: Start Nginx web server service: name: nginx state: started enabled: yes</a:t>
            </a:r>
            <a:endParaRPr/>
          </a:p>
        </p:txBody>
      </p:sp>
      <p:pic>
        <p:nvPicPr>
          <p:cNvPr descr="image.png" id="153" name="Google Shape;15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293691"/>
            <a:ext cx="1047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/>
          <p:nvPr/>
        </p:nvSpPr>
        <p:spPr>
          <a:xfrm>
            <a:off x="6438900" y="2983408"/>
            <a:ext cx="95250" cy="9525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6591300" y="2983408"/>
            <a:ext cx="95250" cy="95250"/>
          </a:xfrm>
          <a:prstGeom prst="roundRect">
            <a:avLst>
              <a:gd fmla="val 50000" name="adj"/>
            </a:avLst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6743700" y="2983408"/>
            <a:ext cx="95250" cy="95250"/>
          </a:xfrm>
          <a:prstGeom prst="roundRect">
            <a:avLst>
              <a:gd fmla="val 50000" name="adj"/>
            </a:avLst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A13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42567"/>
            <a:ext cx="5324475" cy="264914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D2FF"/>
                </a:solidFill>
                <a:latin typeface="Urbanist"/>
                <a:ea typeface="Urbanist"/>
                <a:cs typeface="Urbanist"/>
                <a:sym typeface="Urbanist"/>
              </a:rPr>
              <a:t>PROJECT 3: USER ACCOUNTS</a:t>
            </a:r>
            <a:endParaRPr/>
          </a:p>
        </p:txBody>
      </p:sp>
      <p:pic>
        <p:nvPicPr>
          <p:cNvPr descr="image.png" id="164" name="Google Shape;16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100262"/>
            <a:ext cx="53244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/>
        </p:nvSpPr>
        <p:spPr>
          <a:xfrm>
            <a:off x="819150" y="2680692"/>
            <a:ext cx="509063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Story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819150" y="3071217"/>
            <a:ext cx="4848225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New programmers are joining your team. To keep the server secure, you must create a separate user account and group for them.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819150" y="3905250"/>
            <a:ext cx="484822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Your Goal: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819150" y="4259460"/>
            <a:ext cx="4848225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Build an Ansible script to create a secure group and add a user named devuser safely.</a:t>
            </a:r>
            <a:endParaRPr/>
          </a:p>
        </p:txBody>
      </p:sp>
      <p:pic>
        <p:nvPicPr>
          <p:cNvPr descr="image.png" id="169" name="Google Shape;16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53387" y="3052762"/>
            <a:ext cx="1790700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A13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971948"/>
            <a:ext cx="5324475" cy="15903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2981473"/>
            <a:ext cx="5305425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D2FF"/>
                </a:solidFill>
                <a:latin typeface="Urbanist"/>
                <a:ea typeface="Urbanist"/>
                <a:cs typeface="Urbanist"/>
                <a:sym typeface="Urbanist"/>
              </a:rPr>
              <a:t>P3: USER MANAGEMENT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581025" y="2974776"/>
            <a:ext cx="559069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Easy Steps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581025" y="3365301"/>
            <a:ext cx="53244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1. Write a script to create a user group called developers.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581025" y="3719512"/>
            <a:ext cx="53244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2. Create the user devuser and place them into that developers group.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6467475" y="3448198"/>
            <a:ext cx="4962525" cy="933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F5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--- - name: Create developer group group: name: developers state: present - name: Create user devuser user: name: devuser shell: /bin/bash groups: developers append: yes state: present</a:t>
            </a:r>
            <a:endParaRPr/>
          </a:p>
        </p:txBody>
      </p:sp>
      <p:pic>
        <p:nvPicPr>
          <p:cNvPr descr="image.png" id="182" name="Google Shape;18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254698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/>
          <p:nvPr/>
        </p:nvSpPr>
        <p:spPr>
          <a:xfrm>
            <a:off x="6438900" y="3076723"/>
            <a:ext cx="95250" cy="9525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6591300" y="3076723"/>
            <a:ext cx="95250" cy="95250"/>
          </a:xfrm>
          <a:prstGeom prst="roundRect">
            <a:avLst>
              <a:gd fmla="val 50000" name="adj"/>
            </a:avLst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6743700" y="3076723"/>
            <a:ext cx="95250" cy="95250"/>
          </a:xfrm>
          <a:prstGeom prst="roundRect">
            <a:avLst>
              <a:gd fmla="val 50000" name="adj"/>
            </a:avLst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A13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42567"/>
            <a:ext cx="5324475" cy="264914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D2FF"/>
                </a:solidFill>
                <a:latin typeface="Urbanist"/>
                <a:ea typeface="Urbanist"/>
                <a:cs typeface="Urbanist"/>
                <a:sym typeface="Urbanist"/>
              </a:rPr>
              <a:t>PROJECT 4: INSTALL DOCKER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819150" y="2680692"/>
            <a:ext cx="509063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Story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819150" y="3071217"/>
            <a:ext cx="4848225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Your team wants to run apps inside simple packages called containers. You must install the Docker engine on the server to do this.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819150" y="3905250"/>
            <a:ext cx="484822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Your Goal: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819150" y="4259460"/>
            <a:ext cx="4848225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Create an Ansible script to download Docker and allow devuser to run containers without typing sudo.</a:t>
            </a:r>
            <a:endParaRPr/>
          </a:p>
        </p:txBody>
      </p:sp>
      <p:pic>
        <p:nvPicPr>
          <p:cNvPr id="197" name="Google Shape;19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26013" y="1943963"/>
            <a:ext cx="4676775" cy="387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A13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878633"/>
            <a:ext cx="5324475" cy="17770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2888158"/>
            <a:ext cx="5305425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2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D2FF"/>
                </a:solidFill>
                <a:latin typeface="Urbanist"/>
                <a:ea typeface="Urbanist"/>
                <a:cs typeface="Urbanist"/>
                <a:sym typeface="Urbanist"/>
              </a:rPr>
              <a:t>P4: INSTALL TASKS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581025" y="2707183"/>
            <a:ext cx="559069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Easy Steps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581025" y="3097708"/>
            <a:ext cx="5324475" cy="249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1. Write a task to install docker.io.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581025" y="3461444"/>
            <a:ext cx="53244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2. Ensure Docker starts automatically.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581025" y="3815655"/>
            <a:ext cx="53244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3. Add the user devuser to the secure docker group.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933413" y="4335741"/>
            <a:ext cx="50388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9F43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After running this, the user must log out and back in to apply the group change!</a:t>
            </a:r>
            <a:endParaRPr/>
          </a:p>
        </p:txBody>
      </p:sp>
      <p:sp>
        <p:nvSpPr>
          <p:cNvPr id="211" name="Google Shape;211;p22"/>
          <p:cNvSpPr/>
          <p:nvPr/>
        </p:nvSpPr>
        <p:spPr>
          <a:xfrm>
            <a:off x="581025" y="4198441"/>
            <a:ext cx="38100" cy="62865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 txBox="1"/>
          <p:nvPr/>
        </p:nvSpPr>
        <p:spPr>
          <a:xfrm>
            <a:off x="6467475" y="3354883"/>
            <a:ext cx="4962525" cy="1119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F5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--- - name: Install Docker package apt: name: docker.io state: present - name: Start Docker service service: name: docker state: started enabled: yes - name: Let devuser run Docker user: name: devuser groups: docker append: yes</a:t>
            </a:r>
            <a:endParaRPr/>
          </a:p>
        </p:txBody>
      </p:sp>
      <p:pic>
        <p:nvPicPr>
          <p:cNvPr descr="image.png" id="213" name="Google Shape;21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350841"/>
            <a:ext cx="1047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/>
          <p:nvPr/>
        </p:nvSpPr>
        <p:spPr>
          <a:xfrm>
            <a:off x="6438900" y="2983408"/>
            <a:ext cx="95250" cy="9525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6591300" y="2983408"/>
            <a:ext cx="95250" cy="95250"/>
          </a:xfrm>
          <a:prstGeom prst="roundRect">
            <a:avLst>
              <a:gd fmla="val 50000" name="adj"/>
            </a:avLst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6743700" y="2983408"/>
            <a:ext cx="95250" cy="95250"/>
          </a:xfrm>
          <a:prstGeom prst="roundRect">
            <a:avLst>
              <a:gd fmla="val 50000" name="adj"/>
            </a:avLst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A13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42567"/>
            <a:ext cx="5324475" cy="2649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100262"/>
            <a:ext cx="53244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3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D2FF"/>
                </a:solidFill>
                <a:latin typeface="Urbanist"/>
                <a:ea typeface="Urbanist"/>
                <a:cs typeface="Urbanist"/>
                <a:sym typeface="Urbanist"/>
              </a:rPr>
              <a:t>PROJECT 5: EASY CLOUD COMPUTE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819150" y="2680692"/>
            <a:ext cx="509063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Story</a:t>
            </a:r>
            <a:endParaRPr/>
          </a:p>
        </p:txBody>
      </p:sp>
      <p:sp>
        <p:nvSpPr>
          <p:cNvPr id="226" name="Google Shape;226;p23"/>
          <p:cNvSpPr txBox="1"/>
          <p:nvPr/>
        </p:nvSpPr>
        <p:spPr>
          <a:xfrm>
            <a:off x="819150" y="3071217"/>
            <a:ext cx="4848225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You want a virtual server in AWS. Instead of manually clicking buttons on the Amazon website, write a blueprint to deploy it automatically.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819150" y="3905250"/>
            <a:ext cx="484822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Your Goal: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819150" y="4259460"/>
            <a:ext cx="4848225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Use Terraform to write a single config file that launches a tiny server with a web server installed.</a:t>
            </a:r>
            <a:endParaRPr/>
          </a:p>
        </p:txBody>
      </p:sp>
      <p:pic>
        <p:nvPicPr>
          <p:cNvPr id="229" name="Google Shape;229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67375" y="2038338"/>
            <a:ext cx="6366551" cy="345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A13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" y="24148"/>
            <a:ext cx="12172950" cy="68389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227502"/>
            <a:ext cx="5324474" cy="2393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2237035"/>
            <a:ext cx="5305425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4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D2FF"/>
                </a:solidFill>
                <a:latin typeface="Urbanist"/>
                <a:ea typeface="Urbanist"/>
                <a:cs typeface="Urbanist"/>
                <a:sym typeface="Urbanist"/>
              </a:rPr>
              <a:t>P5: CLOUD INSTANCE CODE</a:t>
            </a:r>
            <a:endParaRPr/>
          </a:p>
        </p:txBody>
      </p:sp>
      <p:sp>
        <p:nvSpPr>
          <p:cNvPr id="238" name="Google Shape;238;p24"/>
          <p:cNvSpPr txBox="1"/>
          <p:nvPr/>
        </p:nvSpPr>
        <p:spPr>
          <a:xfrm>
            <a:off x="581025" y="2702421"/>
            <a:ext cx="559069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Easy Steps</a:t>
            </a:r>
            <a:endParaRPr/>
          </a:p>
        </p:txBody>
      </p:sp>
      <p:sp>
        <p:nvSpPr>
          <p:cNvPr id="239" name="Google Shape;239;p24"/>
          <p:cNvSpPr txBox="1"/>
          <p:nvPr/>
        </p:nvSpPr>
        <p:spPr>
          <a:xfrm>
            <a:off x="581025" y="3092946"/>
            <a:ext cx="5324475" cy="249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1. Set the region to us-east-1.</a:t>
            </a:r>
            <a:endParaRPr/>
          </a:p>
        </p:txBody>
      </p:sp>
      <p:sp>
        <p:nvSpPr>
          <p:cNvPr id="240" name="Google Shape;240;p24"/>
          <p:cNvSpPr txBox="1"/>
          <p:nvPr/>
        </p:nvSpPr>
        <p:spPr>
          <a:xfrm>
            <a:off x="581025" y="3456682"/>
            <a:ext cx="53244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2. Create security rules to allow web traffic (port 80).</a:t>
            </a:r>
            <a:endParaRPr/>
          </a:p>
        </p:txBody>
      </p:sp>
      <p:sp>
        <p:nvSpPr>
          <p:cNvPr id="241" name="Google Shape;241;p24"/>
          <p:cNvSpPr txBox="1"/>
          <p:nvPr/>
        </p:nvSpPr>
        <p:spPr>
          <a:xfrm>
            <a:off x="581025" y="3810892"/>
            <a:ext cx="5324475" cy="249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3. Ask AWS to launch a simple t2.micro instance.</a:t>
            </a:r>
            <a:endParaRPr/>
          </a:p>
        </p:txBody>
      </p:sp>
      <p:sp>
        <p:nvSpPr>
          <p:cNvPr id="242" name="Google Shape;242;p24"/>
          <p:cNvSpPr txBox="1"/>
          <p:nvPr/>
        </p:nvSpPr>
        <p:spPr>
          <a:xfrm>
            <a:off x="933450" y="4346078"/>
            <a:ext cx="5038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9F43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Outbound rules are required! If outbound traffic is blocked, AWS cannot download Apache.</a:t>
            </a:r>
            <a:endParaRPr/>
          </a:p>
        </p:txBody>
      </p:sp>
      <p:sp>
        <p:nvSpPr>
          <p:cNvPr id="243" name="Google Shape;243;p24"/>
          <p:cNvSpPr/>
          <p:nvPr/>
        </p:nvSpPr>
        <p:spPr>
          <a:xfrm>
            <a:off x="581025" y="4203203"/>
            <a:ext cx="38100" cy="62865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4"/>
          <p:cNvSpPr txBox="1"/>
          <p:nvPr/>
        </p:nvSpPr>
        <p:spPr>
          <a:xfrm>
            <a:off x="6467475" y="2825342"/>
            <a:ext cx="4962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00F5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provider "aws" { region = "us-east-1" } resource "aws_security_group" "web_sg" { name = "easy-web-sg" ingress { from_port = 80; to_port = 80; protocol = "tcp"; cidr_blocks = ["0.0.0.0/0"] } egress { from_port = 0; to_port = 0; protocol = "-1"; cidr_blocks = ["0.0.0.0/0"] } } resource "aws_instance" "server" { ami = "ami-0c7217cdde317cfec" instance_type = "t2.micro" vpc_security_group_ids = [aws_security_group.web_sg.id] user_data = "#!/bin/bash\nsudo apt-get update -y\nsudo apt-get install apache2 -y\necho ' ' | sudo tee /var/www/html/index.html" }</a:t>
            </a:r>
            <a:endParaRPr/>
          </a:p>
        </p:txBody>
      </p:sp>
      <p:pic>
        <p:nvPicPr>
          <p:cNvPr descr="image.png" id="245" name="Google Shape;245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355603"/>
            <a:ext cx="1047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4"/>
          <p:cNvSpPr/>
          <p:nvPr/>
        </p:nvSpPr>
        <p:spPr>
          <a:xfrm>
            <a:off x="6438900" y="2332285"/>
            <a:ext cx="95250" cy="9525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4"/>
          <p:cNvSpPr/>
          <p:nvPr/>
        </p:nvSpPr>
        <p:spPr>
          <a:xfrm>
            <a:off x="6591300" y="2332285"/>
            <a:ext cx="95250" cy="95250"/>
          </a:xfrm>
          <a:prstGeom prst="roundRect">
            <a:avLst>
              <a:gd fmla="val 50000" name="adj"/>
            </a:avLst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4"/>
          <p:cNvSpPr/>
          <p:nvPr/>
        </p:nvSpPr>
        <p:spPr>
          <a:xfrm>
            <a:off x="6743700" y="2332285"/>
            <a:ext cx="95250" cy="95250"/>
          </a:xfrm>
          <a:prstGeom prst="roundRect">
            <a:avLst>
              <a:gd fmla="val 50000" name="adj"/>
            </a:avLst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A13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3" name="Google Shape;25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42567"/>
            <a:ext cx="5324475" cy="2649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100262"/>
            <a:ext cx="53244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5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D2FF"/>
                </a:solidFill>
                <a:latin typeface="Urbanist"/>
                <a:ea typeface="Urbanist"/>
                <a:cs typeface="Urbanist"/>
                <a:sym typeface="Urbanist"/>
              </a:rPr>
              <a:t>PROJECT 6: CHEAP S3 WEB HOST</a:t>
            </a:r>
            <a:endParaRPr/>
          </a:p>
        </p:txBody>
      </p:sp>
      <p:sp>
        <p:nvSpPr>
          <p:cNvPr id="257" name="Google Shape;257;p25"/>
          <p:cNvSpPr txBox="1"/>
          <p:nvPr/>
        </p:nvSpPr>
        <p:spPr>
          <a:xfrm>
            <a:off x="819150" y="2680692"/>
            <a:ext cx="509063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Story</a:t>
            </a:r>
            <a:endParaRPr/>
          </a:p>
        </p:txBody>
      </p:sp>
      <p:sp>
        <p:nvSpPr>
          <p:cNvPr id="258" name="Google Shape;258;p25"/>
          <p:cNvSpPr txBox="1"/>
          <p:nvPr/>
        </p:nvSpPr>
        <p:spPr>
          <a:xfrm>
            <a:off x="819150" y="3071217"/>
            <a:ext cx="4848225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You have a personal page you want to show online. A standard virtual server is expensive. Let's host it on S3 storage instead for pennies a month!</a:t>
            </a:r>
            <a:endParaRPr/>
          </a:p>
        </p:txBody>
      </p:sp>
      <p:sp>
        <p:nvSpPr>
          <p:cNvPr id="259" name="Google Shape;259;p25"/>
          <p:cNvSpPr txBox="1"/>
          <p:nvPr/>
        </p:nvSpPr>
        <p:spPr>
          <a:xfrm>
            <a:off x="819150" y="3905250"/>
            <a:ext cx="484822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Your Goal:</a:t>
            </a:r>
            <a:endParaRPr/>
          </a:p>
        </p:txBody>
      </p:sp>
      <p:sp>
        <p:nvSpPr>
          <p:cNvPr id="260" name="Google Shape;260;p25"/>
          <p:cNvSpPr txBox="1"/>
          <p:nvPr/>
        </p:nvSpPr>
        <p:spPr>
          <a:xfrm>
            <a:off x="819150" y="4259460"/>
            <a:ext cx="4848225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Write simple Terraform code to create an AWS S3 bucket, configure website hosting, and make it viewable to everyone.</a:t>
            </a:r>
            <a:endParaRPr/>
          </a:p>
        </p:txBody>
      </p:sp>
      <p:pic>
        <p:nvPicPr>
          <p:cNvPr id="261" name="Google Shape;261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05500" y="2038350"/>
            <a:ext cx="6059474" cy="345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A13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6" name="Google Shape;26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" y="24148"/>
            <a:ext cx="12172950" cy="68389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558950"/>
            <a:ext cx="5324475" cy="24163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2568475"/>
            <a:ext cx="5305425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6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D2FF"/>
                </a:solidFill>
                <a:latin typeface="Urbanist"/>
                <a:ea typeface="Urbanist"/>
                <a:cs typeface="Urbanist"/>
                <a:sym typeface="Urbanist"/>
              </a:rPr>
              <a:t>P6: CLOUD S3 SETUP</a:t>
            </a:r>
            <a:endParaRPr/>
          </a:p>
        </p:txBody>
      </p:sp>
      <p:sp>
        <p:nvSpPr>
          <p:cNvPr id="270" name="Google Shape;270;p26"/>
          <p:cNvSpPr txBox="1"/>
          <p:nvPr/>
        </p:nvSpPr>
        <p:spPr>
          <a:xfrm>
            <a:off x="581025" y="2711946"/>
            <a:ext cx="559069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Easy Steps</a:t>
            </a:r>
            <a:endParaRPr/>
          </a:p>
        </p:txBody>
      </p:sp>
      <p:sp>
        <p:nvSpPr>
          <p:cNvPr id="271" name="Google Shape;271;p26"/>
          <p:cNvSpPr txBox="1"/>
          <p:nvPr/>
        </p:nvSpPr>
        <p:spPr>
          <a:xfrm>
            <a:off x="581025" y="3102471"/>
            <a:ext cx="53244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1. Create an S3 Bucket. Make sure the name is unique worldwide.</a:t>
            </a:r>
            <a:endParaRPr/>
          </a:p>
        </p:txBody>
      </p:sp>
      <p:sp>
        <p:nvSpPr>
          <p:cNvPr id="272" name="Google Shape;272;p26"/>
          <p:cNvSpPr txBox="1"/>
          <p:nvPr/>
        </p:nvSpPr>
        <p:spPr>
          <a:xfrm>
            <a:off x="581025" y="3456682"/>
            <a:ext cx="53244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2. Disable the default blocks to allow public access.</a:t>
            </a:r>
            <a:endParaRPr/>
          </a:p>
        </p:txBody>
      </p:sp>
      <p:sp>
        <p:nvSpPr>
          <p:cNvPr id="273" name="Google Shape;273;p26"/>
          <p:cNvSpPr txBox="1"/>
          <p:nvPr/>
        </p:nvSpPr>
        <p:spPr>
          <a:xfrm>
            <a:off x="581025" y="3810892"/>
            <a:ext cx="53244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3. Write a simple permission rule to allow web reading.</a:t>
            </a:r>
            <a:endParaRPr/>
          </a:p>
        </p:txBody>
      </p:sp>
      <p:sp>
        <p:nvSpPr>
          <p:cNvPr id="274" name="Google Shape;274;p26"/>
          <p:cNvSpPr txBox="1"/>
          <p:nvPr/>
        </p:nvSpPr>
        <p:spPr>
          <a:xfrm>
            <a:off x="933450" y="4336553"/>
            <a:ext cx="5038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9F43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S3 names cannot contain spaces or match any other existing bucket name in the world!</a:t>
            </a:r>
            <a:endParaRPr/>
          </a:p>
        </p:txBody>
      </p:sp>
      <p:sp>
        <p:nvSpPr>
          <p:cNvPr id="275" name="Google Shape;275;p26"/>
          <p:cNvSpPr/>
          <p:nvPr/>
        </p:nvSpPr>
        <p:spPr>
          <a:xfrm>
            <a:off x="581025" y="4193678"/>
            <a:ext cx="38100" cy="62865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6"/>
          <p:cNvSpPr txBox="1"/>
          <p:nvPr/>
        </p:nvSpPr>
        <p:spPr>
          <a:xfrm>
            <a:off x="6467475" y="3035200"/>
            <a:ext cx="4962525" cy="17591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00F5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resource "aws_s3_bucket" "web_bucket" { bucket = "easy-devops-portfolio-101" } resource "aws_s3_bucket_website_configuration" "site" { bucket = aws_s3_bucket.web_bucket.id index_document { suffix = "index.html" } } resource "aws_s3_bucket_public_access_block" "block" { bucket = aws_s3_bucket.web_bucket.id block_public_acls = false block_public_policy = false } resource "aws_s3_bucket_policy" "read_policy" { bucket = aws_s3_bucket.web_bucket.id policy = jsonencode({ Version = "2012-10-17" Statement = [{ Effect = "Allow", Principal = "*", Action = "s3:GetObject", Resource = "${aws_s3_bucket.web_bucket.arn}/*" }] }) }</a:t>
            </a:r>
            <a:endParaRPr/>
          </a:p>
        </p:txBody>
      </p:sp>
      <p:pic>
        <p:nvPicPr>
          <p:cNvPr descr="image.png" id="277" name="Google Shape;277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346078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6"/>
          <p:cNvSpPr/>
          <p:nvPr/>
        </p:nvSpPr>
        <p:spPr>
          <a:xfrm>
            <a:off x="6438900" y="2663725"/>
            <a:ext cx="95250" cy="9525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6"/>
          <p:cNvSpPr/>
          <p:nvPr/>
        </p:nvSpPr>
        <p:spPr>
          <a:xfrm>
            <a:off x="6591300" y="2663725"/>
            <a:ext cx="95250" cy="95250"/>
          </a:xfrm>
          <a:prstGeom prst="roundRect">
            <a:avLst>
              <a:gd fmla="val 50000" name="adj"/>
            </a:avLst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6"/>
          <p:cNvSpPr/>
          <p:nvPr/>
        </p:nvSpPr>
        <p:spPr>
          <a:xfrm>
            <a:off x="6743700" y="2663725"/>
            <a:ext cx="95250" cy="95250"/>
          </a:xfrm>
          <a:prstGeom prst="roundRect">
            <a:avLst>
              <a:gd fmla="val 50000" name="adj"/>
            </a:avLst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A13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5" name="Google Shape;28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42567"/>
            <a:ext cx="5324475" cy="264914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7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D2FF"/>
                </a:solidFill>
                <a:latin typeface="Urbanist"/>
                <a:ea typeface="Urbanist"/>
                <a:cs typeface="Urbanist"/>
                <a:sym typeface="Urbanist"/>
              </a:rPr>
              <a:t>PROJECT 7: SIMPLE SECURE VPC</a:t>
            </a:r>
            <a:endParaRPr/>
          </a:p>
        </p:txBody>
      </p:sp>
      <p:pic>
        <p:nvPicPr>
          <p:cNvPr descr="image.png" id="288" name="Google Shape;288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100262"/>
            <a:ext cx="53244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7"/>
          <p:cNvSpPr txBox="1"/>
          <p:nvPr/>
        </p:nvSpPr>
        <p:spPr>
          <a:xfrm>
            <a:off x="819150" y="2680692"/>
            <a:ext cx="509063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Story</a:t>
            </a:r>
            <a:endParaRPr/>
          </a:p>
        </p:txBody>
      </p:sp>
      <p:sp>
        <p:nvSpPr>
          <p:cNvPr id="290" name="Google Shape;290;p27"/>
          <p:cNvSpPr txBox="1"/>
          <p:nvPr/>
        </p:nvSpPr>
        <p:spPr>
          <a:xfrm>
            <a:off x="819150" y="3071217"/>
            <a:ext cx="4848225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By default, cloud networks are shared and open. To protect your apps, you need a custom private sandbox network (VPC) that you control.</a:t>
            </a:r>
            <a:endParaRPr/>
          </a:p>
        </p:txBody>
      </p:sp>
      <p:sp>
        <p:nvSpPr>
          <p:cNvPr id="291" name="Google Shape;291;p27"/>
          <p:cNvSpPr txBox="1"/>
          <p:nvPr/>
        </p:nvSpPr>
        <p:spPr>
          <a:xfrm>
            <a:off x="819150" y="3905250"/>
            <a:ext cx="484822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Your Goal:</a:t>
            </a:r>
            <a:endParaRPr/>
          </a:p>
        </p:txBody>
      </p:sp>
      <p:sp>
        <p:nvSpPr>
          <p:cNvPr id="292" name="Google Shape;292;p27"/>
          <p:cNvSpPr txBox="1"/>
          <p:nvPr/>
        </p:nvSpPr>
        <p:spPr>
          <a:xfrm>
            <a:off x="819150" y="4259460"/>
            <a:ext cx="48483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Create a secure network sandbox with your own subnets, routing, and access to the internet.using </a:t>
            </a:r>
            <a:r>
              <a:rPr lang="en-US" sz="135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terraform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pic>
        <p:nvPicPr>
          <p:cNvPr descr="image.png" id="293" name="Google Shape;293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53387" y="3052762"/>
            <a:ext cx="1790700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A13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8" name="Google Shape;29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2838450"/>
            <a:ext cx="5324475" cy="1857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96025" y="2847975"/>
            <a:ext cx="5305425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D2FF"/>
                </a:solidFill>
                <a:latin typeface="Urbanist"/>
                <a:ea typeface="Urbanist"/>
                <a:cs typeface="Urbanist"/>
                <a:sym typeface="Urbanist"/>
              </a:rPr>
              <a:t>P7: CUSTOM CLOUD NETWORK</a:t>
            </a:r>
            <a:endParaRPr/>
          </a:p>
        </p:txBody>
      </p:sp>
      <p:sp>
        <p:nvSpPr>
          <p:cNvPr id="301" name="Google Shape;301;p28"/>
          <p:cNvSpPr txBox="1"/>
          <p:nvPr/>
        </p:nvSpPr>
        <p:spPr>
          <a:xfrm>
            <a:off x="581025" y="2534840"/>
            <a:ext cx="559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Easy </a:t>
            </a:r>
            <a:r>
              <a:rPr b="1" lang="en-US" sz="18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st</a:t>
            </a: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eps terraform state</a:t>
            </a:r>
            <a:endParaRPr/>
          </a:p>
        </p:txBody>
      </p:sp>
      <p:sp>
        <p:nvSpPr>
          <p:cNvPr id="302" name="Google Shape;302;p28"/>
          <p:cNvSpPr txBox="1"/>
          <p:nvPr/>
        </p:nvSpPr>
        <p:spPr>
          <a:xfrm>
            <a:off x="581025" y="2925365"/>
            <a:ext cx="53244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1. Define a private IP range (VPC).</a:t>
            </a:r>
            <a:endParaRPr/>
          </a:p>
        </p:txBody>
      </p:sp>
      <p:sp>
        <p:nvSpPr>
          <p:cNvPr id="303" name="Google Shape;303;p28"/>
          <p:cNvSpPr txBox="1"/>
          <p:nvPr/>
        </p:nvSpPr>
        <p:spPr>
          <a:xfrm>
            <a:off x="581025" y="3279576"/>
            <a:ext cx="53244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2. Create a subnet block for servers.</a:t>
            </a:r>
            <a:endParaRPr/>
          </a:p>
        </p:txBody>
      </p:sp>
      <p:sp>
        <p:nvSpPr>
          <p:cNvPr id="304" name="Google Shape;304;p28"/>
          <p:cNvSpPr txBox="1"/>
          <p:nvPr/>
        </p:nvSpPr>
        <p:spPr>
          <a:xfrm>
            <a:off x="581025" y="3633787"/>
            <a:ext cx="53244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3. Create an Internet Gateway to let traffic out.</a:t>
            </a:r>
            <a:endParaRPr/>
          </a:p>
        </p:txBody>
      </p:sp>
      <p:sp>
        <p:nvSpPr>
          <p:cNvPr id="305" name="Google Shape;305;p28"/>
          <p:cNvSpPr txBox="1"/>
          <p:nvPr/>
        </p:nvSpPr>
        <p:spPr>
          <a:xfrm>
            <a:off x="581025" y="3987998"/>
            <a:ext cx="53244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4. Connect the gateway to your route table.</a:t>
            </a:r>
            <a:endParaRPr/>
          </a:p>
        </p:txBody>
      </p:sp>
      <p:sp>
        <p:nvSpPr>
          <p:cNvPr id="306" name="Google Shape;306;p28"/>
          <p:cNvSpPr txBox="1"/>
          <p:nvPr/>
        </p:nvSpPr>
        <p:spPr>
          <a:xfrm>
            <a:off x="6467475" y="3314700"/>
            <a:ext cx="4962525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00F5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resource "aws_vpc" "my_vpc" { cidr_block = "10.0.0.0/16" } resource "aws_subnet" "subnet" { vpc_id = aws_vpc.my_vpc.id cidr_block = "10.0.1.0/24" map_public_ip_on_launch = true } resource "aws_internet_gateway" "igw" { vpc_id = aws_vpc.my_vpc.id } resource "aws_route_table" "rt" { vpc_id = aws_vpc.my_vpc.id route { cidr_block = "0.0.0.0/0"; gateway_id = aws_internet_gateway.igw.id } } resource "aws_route_table_association" "a" { subnet_id = aws_subnet.subnet.id route_table_id = aws_route_table.rt.id }</a:t>
            </a:r>
            <a:endParaRPr/>
          </a:p>
        </p:txBody>
      </p:sp>
      <p:sp>
        <p:nvSpPr>
          <p:cNvPr id="307" name="Google Shape;307;p28"/>
          <p:cNvSpPr/>
          <p:nvPr/>
        </p:nvSpPr>
        <p:spPr>
          <a:xfrm>
            <a:off x="6438900" y="2943225"/>
            <a:ext cx="95250" cy="9525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8"/>
          <p:cNvSpPr/>
          <p:nvPr/>
        </p:nvSpPr>
        <p:spPr>
          <a:xfrm>
            <a:off x="6591300" y="2943225"/>
            <a:ext cx="95250" cy="95250"/>
          </a:xfrm>
          <a:prstGeom prst="roundRect">
            <a:avLst>
              <a:gd fmla="val 50000" name="adj"/>
            </a:avLst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8"/>
          <p:cNvSpPr/>
          <p:nvPr/>
        </p:nvSpPr>
        <p:spPr>
          <a:xfrm>
            <a:off x="6743700" y="2943225"/>
            <a:ext cx="95250" cy="95250"/>
          </a:xfrm>
          <a:prstGeom prst="roundRect">
            <a:avLst>
              <a:gd fmla="val 50000" name="adj"/>
            </a:avLst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A13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4" name="Google Shape;31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42567"/>
            <a:ext cx="5324475" cy="264914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D2FF"/>
                </a:solidFill>
                <a:latin typeface="Urbanist"/>
                <a:ea typeface="Urbanist"/>
                <a:cs typeface="Urbanist"/>
                <a:sym typeface="Urbanist"/>
              </a:rPr>
              <a:t>PROJECT 8: RELIABLE WEB SERVERS</a:t>
            </a:r>
            <a:endParaRPr/>
          </a:p>
        </p:txBody>
      </p:sp>
      <p:sp>
        <p:nvSpPr>
          <p:cNvPr id="317" name="Google Shape;317;p29"/>
          <p:cNvSpPr txBox="1"/>
          <p:nvPr/>
        </p:nvSpPr>
        <p:spPr>
          <a:xfrm>
            <a:off x="819150" y="2680692"/>
            <a:ext cx="509063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Story</a:t>
            </a:r>
            <a:endParaRPr/>
          </a:p>
        </p:txBody>
      </p:sp>
      <p:sp>
        <p:nvSpPr>
          <p:cNvPr id="318" name="Google Shape;318;p29"/>
          <p:cNvSpPr txBox="1"/>
          <p:nvPr/>
        </p:nvSpPr>
        <p:spPr>
          <a:xfrm>
            <a:off x="819150" y="3071217"/>
            <a:ext cx="4848225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If you run only one web server, it will eventually go offline. To stay safe, you need two identical servers with a manager directing traffic.</a:t>
            </a:r>
            <a:endParaRPr/>
          </a:p>
        </p:txBody>
      </p:sp>
      <p:sp>
        <p:nvSpPr>
          <p:cNvPr id="319" name="Google Shape;319;p29"/>
          <p:cNvSpPr txBox="1"/>
          <p:nvPr/>
        </p:nvSpPr>
        <p:spPr>
          <a:xfrm>
            <a:off x="819150" y="3905250"/>
            <a:ext cx="484822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Your Goal:</a:t>
            </a:r>
            <a:endParaRPr/>
          </a:p>
        </p:txBody>
      </p:sp>
      <p:sp>
        <p:nvSpPr>
          <p:cNvPr id="320" name="Google Shape;320;p29"/>
          <p:cNvSpPr txBox="1"/>
          <p:nvPr/>
        </p:nvSpPr>
        <p:spPr>
          <a:xfrm>
            <a:off x="819150" y="4259460"/>
            <a:ext cx="4848225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Launch two servers and put an AWS Application Load Balancer in front to share the traffic.</a:t>
            </a:r>
            <a:endParaRPr/>
          </a:p>
        </p:txBody>
      </p:sp>
      <p:pic>
        <p:nvPicPr>
          <p:cNvPr descr="image.png" id="321" name="Google Shape;321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43862" y="3290887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2" name="Google Shape;322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39237" y="3433762"/>
            <a:ext cx="762000" cy="66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A13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7" name="Google Shape;32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1784450"/>
            <a:ext cx="5324474" cy="1739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8" name="Google Shape;32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96025" y="1793974"/>
            <a:ext cx="5305425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0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D2FF"/>
                </a:solidFill>
                <a:latin typeface="Urbanist"/>
                <a:ea typeface="Urbanist"/>
                <a:cs typeface="Urbanist"/>
                <a:sym typeface="Urbanist"/>
              </a:rPr>
              <a:t>P8: SERVER CLUSTER SETUP</a:t>
            </a:r>
            <a:endParaRPr/>
          </a:p>
        </p:txBody>
      </p:sp>
      <p:sp>
        <p:nvSpPr>
          <p:cNvPr id="330" name="Google Shape;330;p30"/>
          <p:cNvSpPr txBox="1"/>
          <p:nvPr/>
        </p:nvSpPr>
        <p:spPr>
          <a:xfrm>
            <a:off x="581025" y="2884140"/>
            <a:ext cx="559069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Easy Steps</a:t>
            </a:r>
            <a:endParaRPr/>
          </a:p>
        </p:txBody>
      </p:sp>
      <p:sp>
        <p:nvSpPr>
          <p:cNvPr id="331" name="Google Shape;331;p30"/>
          <p:cNvSpPr txBox="1"/>
          <p:nvPr/>
        </p:nvSpPr>
        <p:spPr>
          <a:xfrm>
            <a:off x="581025" y="3274665"/>
            <a:ext cx="5324475" cy="249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1. Use the count = 2 loop to launch two copies of your web server.</a:t>
            </a:r>
            <a:endParaRPr/>
          </a:p>
        </p:txBody>
      </p:sp>
      <p:sp>
        <p:nvSpPr>
          <p:cNvPr id="332" name="Google Shape;332;p30"/>
          <p:cNvSpPr txBox="1"/>
          <p:nvPr/>
        </p:nvSpPr>
        <p:spPr>
          <a:xfrm>
            <a:off x="581025" y="3638401"/>
            <a:ext cx="53244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2. Create a load balancer inside your subnets.</a:t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933450" y="4164062"/>
            <a:ext cx="5038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9F43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Load balancers need at least two subnet zones to guarantee uptime during outages!</a:t>
            </a:r>
            <a:endParaRPr/>
          </a:p>
        </p:txBody>
      </p:sp>
      <p:sp>
        <p:nvSpPr>
          <p:cNvPr id="334" name="Google Shape;334;p30"/>
          <p:cNvSpPr/>
          <p:nvPr/>
        </p:nvSpPr>
        <p:spPr>
          <a:xfrm>
            <a:off x="581025" y="4021187"/>
            <a:ext cx="38100" cy="62865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6467438" y="2258526"/>
            <a:ext cx="4962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00F5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resource "aws_instance" "web_nodes" { count = 2 ami = "ami-0c7217cdde317cfec" instance_type = "t2.micro" user_data = "#!/bin/bash\napt-get update\napt-get install apache2 -y\necho ' ' &gt; /var/www/html/index.html" } resource "aws_lb" "web_alb" { name = "easy-web-alb" load_balancer_type = "application" subnets = ["subnet-id-1", "subnet-id-2"] }</a:t>
            </a:r>
            <a:endParaRPr/>
          </a:p>
        </p:txBody>
      </p:sp>
      <p:pic>
        <p:nvPicPr>
          <p:cNvPr descr="image.png" id="336" name="Google Shape;336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173587"/>
            <a:ext cx="1047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0"/>
          <p:cNvSpPr/>
          <p:nvPr/>
        </p:nvSpPr>
        <p:spPr>
          <a:xfrm>
            <a:off x="6438900" y="1889224"/>
            <a:ext cx="95250" cy="9525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0"/>
          <p:cNvSpPr/>
          <p:nvPr/>
        </p:nvSpPr>
        <p:spPr>
          <a:xfrm>
            <a:off x="6591300" y="1889224"/>
            <a:ext cx="95250" cy="95250"/>
          </a:xfrm>
          <a:prstGeom prst="roundRect">
            <a:avLst>
              <a:gd fmla="val 50000" name="adj"/>
            </a:avLst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0"/>
          <p:cNvSpPr/>
          <p:nvPr/>
        </p:nvSpPr>
        <p:spPr>
          <a:xfrm>
            <a:off x="6743700" y="1889224"/>
            <a:ext cx="95250" cy="95250"/>
          </a:xfrm>
          <a:prstGeom prst="roundRect">
            <a:avLst>
              <a:gd fmla="val 50000" name="adj"/>
            </a:avLst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0"/>
          <p:cNvSpPr txBox="1"/>
          <p:nvPr/>
        </p:nvSpPr>
        <p:spPr>
          <a:xfrm>
            <a:off x="6343400" y="3878300"/>
            <a:ext cx="6093000" cy="14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00D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Server ${count.index+ 1}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A13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5" name="Google Shape;34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6" name="Google Shape;346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42567"/>
            <a:ext cx="5324475" cy="2649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7" name="Google Shape;347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100262"/>
            <a:ext cx="53244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1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D2FF"/>
                </a:solidFill>
                <a:latin typeface="Urbanist"/>
                <a:ea typeface="Urbanist"/>
                <a:cs typeface="Urbanist"/>
                <a:sym typeface="Urbanist"/>
              </a:rPr>
              <a:t>PROJECT 9: PACK YOUR WEBSITE</a:t>
            </a:r>
            <a:endParaRPr/>
          </a:p>
        </p:txBody>
      </p:sp>
      <p:sp>
        <p:nvSpPr>
          <p:cNvPr id="349" name="Google Shape;349;p31"/>
          <p:cNvSpPr txBox="1"/>
          <p:nvPr/>
        </p:nvSpPr>
        <p:spPr>
          <a:xfrm>
            <a:off x="819150" y="2680692"/>
            <a:ext cx="509063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Story</a:t>
            </a:r>
            <a:endParaRPr/>
          </a:p>
        </p:txBody>
      </p:sp>
      <p:sp>
        <p:nvSpPr>
          <p:cNvPr id="350" name="Google Shape;350;p31"/>
          <p:cNvSpPr txBox="1"/>
          <p:nvPr/>
        </p:nvSpPr>
        <p:spPr>
          <a:xfrm>
            <a:off x="819150" y="3071217"/>
            <a:ext cx="4848225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Running code on a system can be painful because setups vary. To solve this, you can bundle your website code and server inside a lightweight container.</a:t>
            </a:r>
            <a:endParaRPr/>
          </a:p>
        </p:txBody>
      </p:sp>
      <p:sp>
        <p:nvSpPr>
          <p:cNvPr id="351" name="Google Shape;351;p31"/>
          <p:cNvSpPr txBox="1"/>
          <p:nvPr/>
        </p:nvSpPr>
        <p:spPr>
          <a:xfrm>
            <a:off x="819150" y="3905250"/>
            <a:ext cx="484822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Your Goal:</a:t>
            </a:r>
            <a:endParaRPr/>
          </a:p>
        </p:txBody>
      </p:sp>
      <p:sp>
        <p:nvSpPr>
          <p:cNvPr id="352" name="Google Shape;352;p31"/>
          <p:cNvSpPr txBox="1"/>
          <p:nvPr/>
        </p:nvSpPr>
        <p:spPr>
          <a:xfrm>
            <a:off x="819150" y="4259460"/>
            <a:ext cx="4848225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Write a single Dockerfile script that packages your custom index.html page and a small Nginx web server together.</a:t>
            </a:r>
            <a:endParaRPr/>
          </a:p>
        </p:txBody>
      </p:sp>
      <p:pic>
        <p:nvPicPr>
          <p:cNvPr id="353" name="Google Shape;353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03425" y="2214063"/>
            <a:ext cx="5090624" cy="3106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A13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8" name="Google Shape;35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" y="24148"/>
            <a:ext cx="12172950" cy="68389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9" name="Google Shape;359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971948"/>
            <a:ext cx="5324475" cy="15903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0" name="Google Shape;360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2981473"/>
            <a:ext cx="5305425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32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D2FF"/>
                </a:solidFill>
                <a:latin typeface="Urbanist"/>
                <a:ea typeface="Urbanist"/>
                <a:cs typeface="Urbanist"/>
                <a:sym typeface="Urbanist"/>
              </a:rPr>
              <a:t>P9: WEB CONTAINER SETUP</a:t>
            </a:r>
            <a:endParaRPr/>
          </a:p>
        </p:txBody>
      </p:sp>
      <p:sp>
        <p:nvSpPr>
          <p:cNvPr id="362" name="Google Shape;362;p32"/>
          <p:cNvSpPr txBox="1"/>
          <p:nvPr/>
        </p:nvSpPr>
        <p:spPr>
          <a:xfrm>
            <a:off x="581025" y="2707183"/>
            <a:ext cx="559069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Easy Steps</a:t>
            </a:r>
            <a:endParaRPr/>
          </a:p>
        </p:txBody>
      </p:sp>
      <p:sp>
        <p:nvSpPr>
          <p:cNvPr id="363" name="Google Shape;363;p32"/>
          <p:cNvSpPr txBox="1"/>
          <p:nvPr/>
        </p:nvSpPr>
        <p:spPr>
          <a:xfrm>
            <a:off x="581025" y="3097708"/>
            <a:ext cx="5324475" cy="249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1. Create a folder with your index.html page.</a:t>
            </a:r>
            <a:endParaRPr/>
          </a:p>
        </p:txBody>
      </p:sp>
      <p:sp>
        <p:nvSpPr>
          <p:cNvPr id="364" name="Google Shape;364;p32"/>
          <p:cNvSpPr txBox="1"/>
          <p:nvPr/>
        </p:nvSpPr>
        <p:spPr>
          <a:xfrm>
            <a:off x="581025" y="3461444"/>
            <a:ext cx="53244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2. Extend Nginx Alpine (a super lightweight, tiny version of Nginx).</a:t>
            </a:r>
            <a:endParaRPr/>
          </a:p>
        </p:txBody>
      </p:sp>
      <p:sp>
        <p:nvSpPr>
          <p:cNvPr id="365" name="Google Shape;365;p32"/>
          <p:cNvSpPr txBox="1"/>
          <p:nvPr/>
        </p:nvSpPr>
        <p:spPr>
          <a:xfrm>
            <a:off x="581025" y="3815655"/>
            <a:ext cx="53244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3. Copy your page inside, expose port 80, and run!</a:t>
            </a:r>
            <a:endParaRPr/>
          </a:p>
        </p:txBody>
      </p:sp>
      <p:sp>
        <p:nvSpPr>
          <p:cNvPr id="366" name="Google Shape;366;p32"/>
          <p:cNvSpPr txBox="1"/>
          <p:nvPr/>
        </p:nvSpPr>
        <p:spPr>
          <a:xfrm>
            <a:off x="857013" y="4341316"/>
            <a:ext cx="50388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9F43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Alpine images are fantastic because they take up less than 10MB of disk space!</a:t>
            </a:r>
            <a:endParaRPr/>
          </a:p>
        </p:txBody>
      </p:sp>
      <p:sp>
        <p:nvSpPr>
          <p:cNvPr id="367" name="Google Shape;367;p32"/>
          <p:cNvSpPr/>
          <p:nvPr/>
        </p:nvSpPr>
        <p:spPr>
          <a:xfrm>
            <a:off x="581025" y="4198441"/>
            <a:ext cx="38100" cy="62865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2"/>
          <p:cNvSpPr txBox="1"/>
          <p:nvPr/>
        </p:nvSpPr>
        <p:spPr>
          <a:xfrm>
            <a:off x="6467475" y="3448198"/>
            <a:ext cx="4962525" cy="933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F5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Create a Docker blueprint FROM nginx:alpine # Copy local web files to standard Nginx path COPY index.html /usr/share/nginx/html/index.html # Expose web port EXPOSE 80</a:t>
            </a:r>
            <a:endParaRPr/>
          </a:p>
        </p:txBody>
      </p:sp>
      <p:pic>
        <p:nvPicPr>
          <p:cNvPr descr="image.png" id="369" name="Google Shape;369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350841"/>
            <a:ext cx="1047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2"/>
          <p:cNvSpPr/>
          <p:nvPr/>
        </p:nvSpPr>
        <p:spPr>
          <a:xfrm>
            <a:off x="6438900" y="3076723"/>
            <a:ext cx="95250" cy="9525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2"/>
          <p:cNvSpPr/>
          <p:nvPr/>
        </p:nvSpPr>
        <p:spPr>
          <a:xfrm>
            <a:off x="6591300" y="3076723"/>
            <a:ext cx="95250" cy="95250"/>
          </a:xfrm>
          <a:prstGeom prst="roundRect">
            <a:avLst>
              <a:gd fmla="val 50000" name="adj"/>
            </a:avLst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2"/>
          <p:cNvSpPr/>
          <p:nvPr/>
        </p:nvSpPr>
        <p:spPr>
          <a:xfrm>
            <a:off x="6743700" y="3076723"/>
            <a:ext cx="95250" cy="95250"/>
          </a:xfrm>
          <a:prstGeom prst="roundRect">
            <a:avLst>
              <a:gd fmla="val 50000" name="adj"/>
            </a:avLst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A13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7" name="Google Shape;37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8" name="Google Shape;378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62522"/>
            <a:ext cx="5324475" cy="240922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3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D2FF"/>
                </a:solidFill>
                <a:latin typeface="Urbanist"/>
                <a:ea typeface="Urbanist"/>
                <a:cs typeface="Urbanist"/>
                <a:sym typeface="Urbanist"/>
              </a:rPr>
              <a:t>PROJECT 10: SIMPLE NODE API</a:t>
            </a:r>
            <a:endParaRPr/>
          </a:p>
        </p:txBody>
      </p:sp>
      <p:pic>
        <p:nvPicPr>
          <p:cNvPr descr="image.png" id="380" name="Google Shape;380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100262"/>
            <a:ext cx="53244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3"/>
          <p:cNvSpPr txBox="1"/>
          <p:nvPr/>
        </p:nvSpPr>
        <p:spPr>
          <a:xfrm>
            <a:off x="819150" y="2800647"/>
            <a:ext cx="509063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Story</a:t>
            </a:r>
            <a:endParaRPr/>
          </a:p>
        </p:txBody>
      </p:sp>
      <p:sp>
        <p:nvSpPr>
          <p:cNvPr id="382" name="Google Shape;382;p33"/>
          <p:cNvSpPr txBox="1"/>
          <p:nvPr/>
        </p:nvSpPr>
        <p:spPr>
          <a:xfrm>
            <a:off x="819150" y="3191172"/>
            <a:ext cx="4848225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Your team built a Node.js microservice app. It runs locally, but sometimes crashes on other computers due to missing software.</a:t>
            </a:r>
            <a:endParaRPr/>
          </a:p>
        </p:txBody>
      </p:sp>
      <p:sp>
        <p:nvSpPr>
          <p:cNvPr id="383" name="Google Shape;383;p33"/>
          <p:cNvSpPr txBox="1"/>
          <p:nvPr/>
        </p:nvSpPr>
        <p:spPr>
          <a:xfrm>
            <a:off x="819150" y="3785294"/>
            <a:ext cx="484822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Your Goal:</a:t>
            </a:r>
            <a:endParaRPr/>
          </a:p>
        </p:txBody>
      </p:sp>
      <p:sp>
        <p:nvSpPr>
          <p:cNvPr id="384" name="Google Shape;384;p33"/>
          <p:cNvSpPr txBox="1"/>
          <p:nvPr/>
        </p:nvSpPr>
        <p:spPr>
          <a:xfrm>
            <a:off x="819150" y="4139505"/>
            <a:ext cx="4848225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Build a simple, standard Docker container layout to run Node.js apps anywhere instantly.</a:t>
            </a:r>
            <a:endParaRPr/>
          </a:p>
        </p:txBody>
      </p:sp>
      <p:pic>
        <p:nvPicPr>
          <p:cNvPr descr="image.png" id="385" name="Google Shape;385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24850" y="3052762"/>
            <a:ext cx="1247775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A13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0" name="Google Shape;39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" y="24148"/>
            <a:ext cx="12172950" cy="68389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1" name="Google Shape;391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971948"/>
            <a:ext cx="5324475" cy="15903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2" name="Google Shape;392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2981473"/>
            <a:ext cx="5305425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34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D2FF"/>
                </a:solidFill>
                <a:latin typeface="Urbanist"/>
                <a:ea typeface="Urbanist"/>
                <a:cs typeface="Urbanist"/>
                <a:sym typeface="Urbanist"/>
              </a:rPr>
              <a:t>P10: NODE WEB CONTAINER</a:t>
            </a:r>
            <a:endParaRPr/>
          </a:p>
        </p:txBody>
      </p:sp>
      <p:sp>
        <p:nvSpPr>
          <p:cNvPr id="394" name="Google Shape;394;p34"/>
          <p:cNvSpPr txBox="1"/>
          <p:nvPr/>
        </p:nvSpPr>
        <p:spPr>
          <a:xfrm>
            <a:off x="581025" y="2707183"/>
            <a:ext cx="559069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Easy Steps</a:t>
            </a:r>
            <a:endParaRPr/>
          </a:p>
        </p:txBody>
      </p:sp>
      <p:sp>
        <p:nvSpPr>
          <p:cNvPr id="395" name="Google Shape;395;p34"/>
          <p:cNvSpPr txBox="1"/>
          <p:nvPr/>
        </p:nvSpPr>
        <p:spPr>
          <a:xfrm>
            <a:off x="581025" y="3097708"/>
            <a:ext cx="53244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1. Start with the Node.js base environment.</a:t>
            </a:r>
            <a:endParaRPr/>
          </a:p>
        </p:txBody>
      </p:sp>
      <p:sp>
        <p:nvSpPr>
          <p:cNvPr id="396" name="Google Shape;396;p34"/>
          <p:cNvSpPr txBox="1"/>
          <p:nvPr/>
        </p:nvSpPr>
        <p:spPr>
          <a:xfrm>
            <a:off x="581025" y="3451919"/>
            <a:ext cx="5324475" cy="249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2. Copy dependency files (package.json) first and install them.</a:t>
            </a:r>
            <a:endParaRPr/>
          </a:p>
        </p:txBody>
      </p:sp>
      <p:sp>
        <p:nvSpPr>
          <p:cNvPr id="397" name="Google Shape;397;p34"/>
          <p:cNvSpPr txBox="1"/>
          <p:nvPr/>
        </p:nvSpPr>
        <p:spPr>
          <a:xfrm>
            <a:off x="581025" y="3815655"/>
            <a:ext cx="53244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3. Copy the rest of the application files and run.</a:t>
            </a:r>
            <a:endParaRPr/>
          </a:p>
        </p:txBody>
      </p:sp>
      <p:sp>
        <p:nvSpPr>
          <p:cNvPr id="398" name="Google Shape;398;p34"/>
          <p:cNvSpPr txBox="1"/>
          <p:nvPr/>
        </p:nvSpPr>
        <p:spPr>
          <a:xfrm>
            <a:off x="1057275" y="4341316"/>
            <a:ext cx="5038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9F43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Installing packages BEFORE copying your code lets Docker cache them, saving deployment time!</a:t>
            </a:r>
            <a:endParaRPr/>
          </a:p>
        </p:txBody>
      </p:sp>
      <p:sp>
        <p:nvSpPr>
          <p:cNvPr id="399" name="Google Shape;399;p34"/>
          <p:cNvSpPr/>
          <p:nvPr/>
        </p:nvSpPr>
        <p:spPr>
          <a:xfrm>
            <a:off x="581025" y="4198441"/>
            <a:ext cx="38100" cy="62865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4"/>
          <p:cNvSpPr txBox="1"/>
          <p:nvPr/>
        </p:nvSpPr>
        <p:spPr>
          <a:xfrm>
            <a:off x="6467475" y="3448198"/>
            <a:ext cx="4962525" cy="933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F5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FROM node:20-alpine WORKDIR /usr/src/app # Speed up build by caching packages COPY package*.json ./ RUN npm install # Copy application files COPY . . EXPOSE 3000 CMD ["node", "index.js"]</a:t>
            </a:r>
            <a:endParaRPr/>
          </a:p>
        </p:txBody>
      </p:sp>
      <p:pic>
        <p:nvPicPr>
          <p:cNvPr descr="image.png" id="401" name="Google Shape;401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350841"/>
            <a:ext cx="1047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34"/>
          <p:cNvSpPr/>
          <p:nvPr/>
        </p:nvSpPr>
        <p:spPr>
          <a:xfrm>
            <a:off x="6438900" y="3076723"/>
            <a:ext cx="95250" cy="9525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4"/>
          <p:cNvSpPr/>
          <p:nvPr/>
        </p:nvSpPr>
        <p:spPr>
          <a:xfrm>
            <a:off x="6591300" y="3076723"/>
            <a:ext cx="95250" cy="95250"/>
          </a:xfrm>
          <a:prstGeom prst="roundRect">
            <a:avLst>
              <a:gd fmla="val 50000" name="adj"/>
            </a:avLst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4"/>
          <p:cNvSpPr/>
          <p:nvPr/>
        </p:nvSpPr>
        <p:spPr>
          <a:xfrm>
            <a:off x="6743700" y="3076723"/>
            <a:ext cx="95250" cy="95250"/>
          </a:xfrm>
          <a:prstGeom prst="roundRect">
            <a:avLst>
              <a:gd fmla="val 50000" name="adj"/>
            </a:avLst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A13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9" name="Google Shape;40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0" name="Google Shape;410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62522"/>
            <a:ext cx="5324475" cy="2409229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35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D2FF"/>
                </a:solidFill>
                <a:latin typeface="Urbanist"/>
                <a:ea typeface="Urbanist"/>
                <a:cs typeface="Urbanist"/>
                <a:sym typeface="Urbanist"/>
              </a:rPr>
              <a:t>PROJECT 11: SYSTEM MONITOR</a:t>
            </a:r>
            <a:endParaRPr/>
          </a:p>
        </p:txBody>
      </p:sp>
      <p:pic>
        <p:nvPicPr>
          <p:cNvPr descr="image.png" id="412" name="Google Shape;412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100262"/>
            <a:ext cx="53244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35"/>
          <p:cNvSpPr txBox="1"/>
          <p:nvPr/>
        </p:nvSpPr>
        <p:spPr>
          <a:xfrm>
            <a:off x="819150" y="2800647"/>
            <a:ext cx="509063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Story</a:t>
            </a:r>
            <a:endParaRPr/>
          </a:p>
        </p:txBody>
      </p:sp>
      <p:sp>
        <p:nvSpPr>
          <p:cNvPr id="414" name="Google Shape;414;p35"/>
          <p:cNvSpPr txBox="1"/>
          <p:nvPr/>
        </p:nvSpPr>
        <p:spPr>
          <a:xfrm>
            <a:off x="819150" y="3191172"/>
            <a:ext cx="4848225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You wrote a Python script to monitor system statistics. To prevent installation errors on other hosts, containerize it.</a:t>
            </a:r>
            <a:endParaRPr/>
          </a:p>
        </p:txBody>
      </p:sp>
      <p:sp>
        <p:nvSpPr>
          <p:cNvPr id="415" name="Google Shape;415;p35"/>
          <p:cNvSpPr txBox="1"/>
          <p:nvPr/>
        </p:nvSpPr>
        <p:spPr>
          <a:xfrm>
            <a:off x="819150" y="3785294"/>
            <a:ext cx="484822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Your Goal:</a:t>
            </a:r>
            <a:endParaRPr/>
          </a:p>
        </p:txBody>
      </p:sp>
      <p:sp>
        <p:nvSpPr>
          <p:cNvPr id="416" name="Google Shape;416;p35"/>
          <p:cNvSpPr txBox="1"/>
          <p:nvPr/>
        </p:nvSpPr>
        <p:spPr>
          <a:xfrm>
            <a:off x="819150" y="4139505"/>
            <a:ext cx="4848225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Run your script in a lightweight Python sandbox container to capture clean execution logs.</a:t>
            </a:r>
            <a:endParaRPr/>
          </a:p>
        </p:txBody>
      </p:sp>
      <p:pic>
        <p:nvPicPr>
          <p:cNvPr descr="image.png" id="417" name="Google Shape;417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24850" y="3052762"/>
            <a:ext cx="1247775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A13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3" name="Google Shape;423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971948"/>
            <a:ext cx="5324475" cy="15903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4" name="Google Shape;424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2981473"/>
            <a:ext cx="5305425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36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D2FF"/>
                </a:solidFill>
                <a:latin typeface="Urbanist"/>
                <a:ea typeface="Urbanist"/>
                <a:cs typeface="Urbanist"/>
                <a:sym typeface="Urbanist"/>
              </a:rPr>
              <a:t>P11: PYTHON CONTAINER FILE</a:t>
            </a:r>
            <a:endParaRPr/>
          </a:p>
        </p:txBody>
      </p:sp>
      <p:sp>
        <p:nvSpPr>
          <p:cNvPr id="426" name="Google Shape;426;p36"/>
          <p:cNvSpPr txBox="1"/>
          <p:nvPr/>
        </p:nvSpPr>
        <p:spPr>
          <a:xfrm>
            <a:off x="581025" y="2711946"/>
            <a:ext cx="559069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Easy Steps</a:t>
            </a:r>
            <a:endParaRPr/>
          </a:p>
        </p:txBody>
      </p:sp>
      <p:sp>
        <p:nvSpPr>
          <p:cNvPr id="427" name="Google Shape;427;p36"/>
          <p:cNvSpPr txBox="1"/>
          <p:nvPr/>
        </p:nvSpPr>
        <p:spPr>
          <a:xfrm>
            <a:off x="581025" y="3102471"/>
            <a:ext cx="53244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1. Start with a light Python template image.</a:t>
            </a:r>
            <a:endParaRPr/>
          </a:p>
        </p:txBody>
      </p:sp>
      <p:sp>
        <p:nvSpPr>
          <p:cNvPr id="428" name="Google Shape;428;p36"/>
          <p:cNvSpPr txBox="1"/>
          <p:nvPr/>
        </p:nvSpPr>
        <p:spPr>
          <a:xfrm>
            <a:off x="581025" y="3456682"/>
            <a:ext cx="53244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2. Add your monitoring script inside the container.</a:t>
            </a:r>
            <a:endParaRPr/>
          </a:p>
        </p:txBody>
      </p:sp>
      <p:sp>
        <p:nvSpPr>
          <p:cNvPr id="429" name="Google Shape;429;p36"/>
          <p:cNvSpPr txBox="1"/>
          <p:nvPr/>
        </p:nvSpPr>
        <p:spPr>
          <a:xfrm>
            <a:off x="581025" y="3810892"/>
            <a:ext cx="53244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3. Force output logs to display instantly in your dashboard terminal.</a:t>
            </a:r>
            <a:endParaRPr/>
          </a:p>
        </p:txBody>
      </p:sp>
      <p:sp>
        <p:nvSpPr>
          <p:cNvPr id="430" name="Google Shape;430;p36"/>
          <p:cNvSpPr txBox="1"/>
          <p:nvPr/>
        </p:nvSpPr>
        <p:spPr>
          <a:xfrm>
            <a:off x="6467475" y="3448198"/>
            <a:ext cx="4962525" cy="933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F5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FROM python:3.11-alpine WORKDIR /app COPY monitor.py . # Stream print commands instantly ENV PYTHONUNBUFFERED=1 CMD ["python", "monitor.py"]</a:t>
            </a:r>
            <a:endParaRPr/>
          </a:p>
        </p:txBody>
      </p:sp>
      <p:pic>
        <p:nvPicPr>
          <p:cNvPr descr="image.png" id="431" name="Google Shape;431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346078"/>
            <a:ext cx="1047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36"/>
          <p:cNvSpPr/>
          <p:nvPr/>
        </p:nvSpPr>
        <p:spPr>
          <a:xfrm>
            <a:off x="6438900" y="3076723"/>
            <a:ext cx="95250" cy="9525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6"/>
          <p:cNvSpPr/>
          <p:nvPr/>
        </p:nvSpPr>
        <p:spPr>
          <a:xfrm>
            <a:off x="6591300" y="3076723"/>
            <a:ext cx="95250" cy="95250"/>
          </a:xfrm>
          <a:prstGeom prst="roundRect">
            <a:avLst>
              <a:gd fmla="val 50000" name="adj"/>
            </a:avLst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6"/>
          <p:cNvSpPr/>
          <p:nvPr/>
        </p:nvSpPr>
        <p:spPr>
          <a:xfrm>
            <a:off x="6743700" y="3076723"/>
            <a:ext cx="95250" cy="95250"/>
          </a:xfrm>
          <a:prstGeom prst="roundRect">
            <a:avLst>
              <a:gd fmla="val 50000" name="adj"/>
            </a:avLst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A13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9" name="Google Shape;43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0" name="Google Shape;440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785318"/>
            <a:ext cx="5324475" cy="19636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1" name="Google Shape;441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2794843"/>
            <a:ext cx="5305425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D2FF"/>
                </a:solidFill>
                <a:latin typeface="Urbanist"/>
                <a:ea typeface="Urbanist"/>
                <a:cs typeface="Urbanist"/>
                <a:sym typeface="Urbanist"/>
              </a:rPr>
              <a:t>PUBLISHING CODE TO GITHUB</a:t>
            </a:r>
            <a:endParaRPr/>
          </a:p>
        </p:txBody>
      </p:sp>
      <p:sp>
        <p:nvSpPr>
          <p:cNvPr id="443" name="Google Shape;443;p37"/>
          <p:cNvSpPr txBox="1"/>
          <p:nvPr/>
        </p:nvSpPr>
        <p:spPr>
          <a:xfrm>
            <a:off x="581025" y="2977753"/>
            <a:ext cx="559069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Easy Steps</a:t>
            </a:r>
            <a:endParaRPr/>
          </a:p>
        </p:txBody>
      </p:sp>
      <p:sp>
        <p:nvSpPr>
          <p:cNvPr id="444" name="Google Shape;444;p37"/>
          <p:cNvSpPr txBox="1"/>
          <p:nvPr/>
        </p:nvSpPr>
        <p:spPr>
          <a:xfrm>
            <a:off x="581025" y="3368278"/>
            <a:ext cx="5324475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Now, save your Ansible and Terraform configuration files in a secure remote workspace.</a:t>
            </a:r>
            <a:endParaRPr/>
          </a:p>
        </p:txBody>
      </p:sp>
      <p:sp>
        <p:nvSpPr>
          <p:cNvPr id="445" name="Google Shape;445;p37"/>
          <p:cNvSpPr txBox="1"/>
          <p:nvPr/>
        </p:nvSpPr>
        <p:spPr>
          <a:xfrm>
            <a:off x="581025" y="3962400"/>
            <a:ext cx="5324475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This allows team members to download, share, and launch your cloud infrastructure instantly.</a:t>
            </a:r>
            <a:endParaRPr/>
          </a:p>
        </p:txBody>
      </p:sp>
      <p:sp>
        <p:nvSpPr>
          <p:cNvPr id="446" name="Google Shape;446;p37"/>
          <p:cNvSpPr txBox="1"/>
          <p:nvPr/>
        </p:nvSpPr>
        <p:spPr>
          <a:xfrm>
            <a:off x="6467475" y="3261568"/>
            <a:ext cx="4962525" cy="1306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F5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Initialize local repository folder git init # Tell git to ignore garbage and keys echo -e "*.retry\n.terraform/" &gt; .gitignore # Save and upload to online repository git add . git commit -m "feat: cloud blueprints" git remote add origin https://github.com/USER/REPO.git git push -u origin main</a:t>
            </a:r>
            <a:endParaRPr/>
          </a:p>
        </p:txBody>
      </p:sp>
      <p:sp>
        <p:nvSpPr>
          <p:cNvPr id="447" name="Google Shape;447;p37"/>
          <p:cNvSpPr/>
          <p:nvPr/>
        </p:nvSpPr>
        <p:spPr>
          <a:xfrm>
            <a:off x="6438900" y="2890093"/>
            <a:ext cx="95250" cy="9525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7"/>
          <p:cNvSpPr/>
          <p:nvPr/>
        </p:nvSpPr>
        <p:spPr>
          <a:xfrm>
            <a:off x="6591300" y="2890093"/>
            <a:ext cx="95250" cy="95250"/>
          </a:xfrm>
          <a:prstGeom prst="roundRect">
            <a:avLst>
              <a:gd fmla="val 50000" name="adj"/>
            </a:avLst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7"/>
          <p:cNvSpPr/>
          <p:nvPr/>
        </p:nvSpPr>
        <p:spPr>
          <a:xfrm>
            <a:off x="6743700" y="2890093"/>
            <a:ext cx="95250" cy="95250"/>
          </a:xfrm>
          <a:prstGeom prst="roundRect">
            <a:avLst>
              <a:gd fmla="val 50000" name="adj"/>
            </a:avLst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A13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4" name="Google Shape;45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5" name="Google Shape;455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785318"/>
            <a:ext cx="5324475" cy="19636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6" name="Google Shape;456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2794843"/>
            <a:ext cx="5305425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8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D2FF"/>
                </a:solidFill>
                <a:latin typeface="Urbanist"/>
                <a:ea typeface="Urbanist"/>
                <a:cs typeface="Urbanist"/>
                <a:sym typeface="Urbanist"/>
              </a:rPr>
              <a:t>PUBLISHING TO DOCKER HUB</a:t>
            </a:r>
            <a:endParaRPr/>
          </a:p>
        </p:txBody>
      </p:sp>
      <p:sp>
        <p:nvSpPr>
          <p:cNvPr id="458" name="Google Shape;458;p38"/>
          <p:cNvSpPr txBox="1"/>
          <p:nvPr/>
        </p:nvSpPr>
        <p:spPr>
          <a:xfrm>
            <a:off x="581025" y="3274814"/>
            <a:ext cx="559069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Easy Steps</a:t>
            </a:r>
            <a:endParaRPr/>
          </a:p>
        </p:txBody>
      </p:sp>
      <p:sp>
        <p:nvSpPr>
          <p:cNvPr id="459" name="Google Shape;459;p38"/>
          <p:cNvSpPr txBox="1"/>
          <p:nvPr/>
        </p:nvSpPr>
        <p:spPr>
          <a:xfrm>
            <a:off x="581025" y="3665339"/>
            <a:ext cx="5324475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Now, distribute your custom web app containers to a registry so any server in the cloud can retrieve and run them.</a:t>
            </a:r>
            <a:endParaRPr/>
          </a:p>
        </p:txBody>
      </p:sp>
      <p:sp>
        <p:nvSpPr>
          <p:cNvPr id="460" name="Google Shape;460;p38"/>
          <p:cNvSpPr txBox="1"/>
          <p:nvPr/>
        </p:nvSpPr>
        <p:spPr>
          <a:xfrm>
            <a:off x="6467475" y="3261568"/>
            <a:ext cx="4962525" cy="1306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F5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Login to your secure portal docker login # Tag container packages docker tag my-portfolio:v1 user/my-portfolio:latest docker tag node-quote-api:v1 user/node-quote-api:latest # Push packages into cloud storage docker push user/my-portfolio:latest docker push user/node-quote-api:latest</a:t>
            </a:r>
            <a:endParaRPr/>
          </a:p>
        </p:txBody>
      </p:sp>
      <p:sp>
        <p:nvSpPr>
          <p:cNvPr id="461" name="Google Shape;461;p38"/>
          <p:cNvSpPr/>
          <p:nvPr/>
        </p:nvSpPr>
        <p:spPr>
          <a:xfrm>
            <a:off x="6438900" y="2890093"/>
            <a:ext cx="95250" cy="9525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38"/>
          <p:cNvSpPr/>
          <p:nvPr/>
        </p:nvSpPr>
        <p:spPr>
          <a:xfrm>
            <a:off x="6591300" y="2890093"/>
            <a:ext cx="95250" cy="95250"/>
          </a:xfrm>
          <a:prstGeom prst="roundRect">
            <a:avLst>
              <a:gd fmla="val 50000" name="adj"/>
            </a:avLst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8"/>
          <p:cNvSpPr/>
          <p:nvPr/>
        </p:nvSpPr>
        <p:spPr>
          <a:xfrm>
            <a:off x="6743700" y="2890093"/>
            <a:ext cx="95250" cy="95250"/>
          </a:xfrm>
          <a:prstGeom prst="roundRect">
            <a:avLst>
              <a:gd fmla="val 50000" name="adj"/>
            </a:avLst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